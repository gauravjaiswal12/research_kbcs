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360"/>
            <a:ext cx="12191695" cy="54864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Karma-Based Credit Scheduler (KBCS)</a:t>
            </a:r>
          </a:p>
          <a:p>
            <a:pPr algn="ctr">
              <a:spcBef>
                <a:spcPts val="1000"/>
              </a:spcBef>
              <a:defRPr sz="2200">
                <a:solidFill>
                  <a:srgbClr val="96BEE6"/>
                </a:solidFill>
              </a:defRPr>
            </a:pPr>
            <a:r>
              <a:t>A P4-Based Fairness Mechanism for Heterogeneous TCP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832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C8DC"/>
                </a:solidFill>
              </a:defRPr>
            </a:pPr>
            <a:r>
              <a:t>Mid-Semester Project Presentation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Gaurav Jaiswal (IIT2023157)  ·  Ishan Chadha (IIT2023158)  ·  Sameer Prasad (IIT2023134)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endParaRPr/>
          </a:p>
          <a:p>
            <a:pPr algn="ctr">
              <a:defRPr sz="1500">
                <a:solidFill>
                  <a:srgbClr val="96BEE6"/>
                </a:solidFill>
              </a:defRPr>
            </a:pPr>
            <a:r>
              <a:t>Indian Institute of Information Technology, Allahabad</a:t>
            </a:r>
          </a:p>
          <a:p>
            <a:pPr algn="ctr">
              <a:defRPr sz="1400">
                <a:solidFill>
                  <a:srgbClr val="78A0C8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The Fairness Problem in Modern Networks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10512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10512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TCP CCA Families &amp; Buffer Competition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49424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9424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Programmable Data Planes with P4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688336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88336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Baseline System: P4air — Architecture &amp; Results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127248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2724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Our Proposal: KBCS — Core Idea &amp; Algorithm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66160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6616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KBCS Architecture &amp; Processing Pipeline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05072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05072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Implementation Status &amp; Design Gaps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443984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43984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Experimental Evaluation &amp; Metrics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82896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82896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Roadmap to End-Semester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21808"/>
            <a:ext cx="347472" cy="347472"/>
          </a:xfrm>
          <a:prstGeom prst="ellipse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21808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The Fairness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Why do some TCP flows starve while others dominate?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4A4A4A"/>
                </a:solidFill>
              </a:defRPr>
            </a:pPr>
            <a:r>
              <a:t>Real networks carry diverse TCP algorithms simultaneously</a:t>
            </a:r>
          </a:p>
          <a:p>
            <a:pPr lvl="1">
              <a:spcAft>
                <a:spcPts val="600"/>
              </a:spcAft>
              <a:defRPr sz="1500">
                <a:solidFill>
                  <a:srgbClr val="646464"/>
                </a:solidFill>
              </a:defRPr>
            </a:pPr>
            <a:r>
              <a:t>CUBIC, BBR, Vegas, Illinois — all competing for the same buffer</a:t>
            </a:r>
          </a:p>
          <a:p>
            <a:pPr>
              <a:spcAft>
                <a:spcPts val="600"/>
              </a:spcAft>
              <a:defRPr sz="1700" b="1">
                <a:solidFill>
                  <a:srgbClr val="4A4A4A"/>
                </a:solidFill>
              </a:defRPr>
            </a:pPr>
            <a:r>
              <a:t>Aggressive senders fill buffers, delay-sensitive senders back off</a:t>
            </a:r>
          </a:p>
          <a:p>
            <a:pPr lvl="1">
              <a:spcAft>
                <a:spcPts val="600"/>
              </a:spcAft>
              <a:defRPr sz="1500">
                <a:solidFill>
                  <a:srgbClr val="646464"/>
                </a:solidFill>
              </a:defRPr>
            </a:pPr>
            <a:r>
              <a:t>Result: unfair bandwidth distribution at bottleneck links</a:t>
            </a:r>
          </a:p>
          <a:p>
            <a:pPr>
              <a:spcAft>
                <a:spcPts val="600"/>
              </a:spcAft>
              <a:defRPr sz="1700" b="1">
                <a:solidFill>
                  <a:srgbClr val="4A4A4A"/>
                </a:solidFill>
              </a:defRPr>
            </a:pPr>
            <a:r>
              <a:t>Traditional AQM (RED, CoDel) treats all flows identically</a:t>
            </a:r>
          </a:p>
          <a:p>
            <a:pPr lvl="1">
              <a:spcAft>
                <a:spcPts val="600"/>
              </a:spcAft>
              <a:defRPr sz="1500">
                <a:solidFill>
                  <a:srgbClr val="646464"/>
                </a:solidFill>
              </a:defRPr>
            </a:pPr>
            <a:r>
              <a:t>Cannot distinguish the aggressor from the victim</a:t>
            </a:r>
          </a:p>
          <a:p>
            <a:pPr>
              <a:spcAft>
                <a:spcPts val="600"/>
              </a:spcAft>
              <a:defRPr sz="1700" b="1">
                <a:solidFill>
                  <a:srgbClr val="4A4A4A"/>
                </a:solidFill>
              </a:defRPr>
            </a:pPr>
            <a:r>
              <a:t>Key Question:</a:t>
            </a:r>
          </a:p>
          <a:p>
            <a:pPr lvl="1">
              <a:spcAft>
                <a:spcPts val="600"/>
              </a:spcAft>
              <a:defRPr sz="1500">
                <a:solidFill>
                  <a:srgbClr val="646464"/>
                </a:solidFill>
              </a:defRPr>
            </a:pPr>
            <a:r>
              <a:t>Can a programmable switch detect &amp; correct this unfairness</a:t>
            </a:r>
          </a:p>
          <a:p>
            <a:pPr lvl="1">
              <a:spcAft>
                <a:spcPts val="600"/>
              </a:spcAft>
              <a:defRPr sz="1500">
                <a:solidFill>
                  <a:srgbClr val="646464"/>
                </a:solidFill>
              </a:defRPr>
            </a:pPr>
            <a:r>
              <a:t>in real-time, without modifying the end hosts?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38912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🏟  The Buffer Arena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CUBIC:  "I'll fill the buffer until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  packets drop — that's how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  I find the link capacity."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BBR:     "I'll estimate BDP and stay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  below the queue limit."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Vegas:  "Any RTT increase means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  congestion — I'll back off."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Same buffer, conflicting strategies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CUBIC dominates every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TCP Congestion Control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Four families with fundamentally different strategies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749981"/>
              </p:ext>
            </p:extLst>
          </p:nvPr>
        </p:nvGraphicFramePr>
        <p:xfrm>
          <a:off x="731520" y="1645920"/>
          <a:ext cx="109679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5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CCA Family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Signal Used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Aggressiveness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Purely Loss-Based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Packet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CUBIC, Reno, 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Highest — fills buffer until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Loss-Delay Hybrid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Loss + RTT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Illinois, YeAH, Veno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Medium — delay as secondary signal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Delay-Based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RTT increase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Vegas, LoLa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Lowest — backs off at first 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Model-Based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BDP estimation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BBR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rPr dirty="0"/>
                        <a:t>Variable — periodic probing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325880" y="4462599"/>
            <a:ext cx="9144000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C0392B"/>
                </a:solidFill>
              </a:defRPr>
            </a:pPr>
            <a:r>
              <a:t>⚡ Core Conflict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When loss-based and delay-based flows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share a FIFO queue, loss-based ALWAYS wins.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Loss-based needs losses to slow down.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Delay-based backs off before losses occur.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Fundamentally asymmetric competition.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Bufferbloat &amp; Why Traditional AQM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The Bufferbloat Cascade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CUBIC fills the shared buffer → queuing delay rises for ALL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BBR sees inflated RTT → reduces pacing rate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Vegas detects delay → backs off entirely → starvation</a:t>
            </a:r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Why RED/CoDel Can't Help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Flow-agnostic: same drop probability for all packets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Drops a Vegas packet = punishes the victim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Drops a CUBIC packet = exactly what CUBIC expects</a:t>
            </a:r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What We Need Instead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Behavior-aware differentiation at the switch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Protect well-behaved flows, penalize aggressors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389120" cy="3657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📊 Literature Evidence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Without CCA awareness: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Jain's FI as low as 0.18 – 0.49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(P4air paper, Turkovic &amp; Kuipers 2021)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With CCA-aware scheduling: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Jain's FI improves to 0.87 – 0.96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Strong motivation for in-switch fairness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P4 &amp; Programmable Data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Moving fairness logic INTO the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P4: Protocol-Independent Packet Processing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Switch pipeline defined by the operator, not the vendor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Parser → Ingress → Traffic Mgr → Egress → Deparser</a:t>
            </a:r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Key P4 Capabilities We Leverage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Registers: persistent per-flow state across packets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Hash functions: CRC16 for flow identification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Bit-shift ALU: efficient decay without floating point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Priority queues: differentiated scheduling in BMv2</a:t>
            </a:r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4A4A4A"/>
                </a:solidFill>
              </a:defRPr>
            </a:pPr>
            <a:r>
              <a:t>Our Environment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BMv2 simple_switch  +  Mininet  +  P4_16</a:t>
            </a:r>
          </a:p>
          <a:p>
            <a:pPr lvl="1">
              <a:spcAft>
                <a:spcPts val="600"/>
              </a:spcAft>
              <a:defRPr sz="1400">
                <a:solidFill>
                  <a:srgbClr val="646464"/>
                </a:solidFill>
              </a:defRPr>
            </a:pPr>
            <a:r>
              <a:t>Dumbbell topology: 10 Mbps bottleneck, 5ms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840480" cy="4572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v1model Pipeline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┌─────────────────┐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│     Parser       │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└────────┬─────────┘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↓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┌─────────────────┐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│ Ingress Control  │ ← KBCS logic here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└────────┬─────────┘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↓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┌─────────────────┐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│ Traffic Manager  │ ← Priority queues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└────────┬─────────┘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       ↓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┌─────────────────┐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│ Egress Control   │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└─────────────────┘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Related Work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10 papers spanning 4 research areas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Research Area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Key Papers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What They Contribute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CCA-Aware Fairness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P4air, P4CCI, Real-Time CCA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In-switch flow classification &amp;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Buffer/Queue Mgmt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CCA-aware QM, P4 Buffer Mgmt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Programmable queue policies for fairness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Fair Queueing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PFQ (Proactive Fair Queueing)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Fairness + high utilization simultaneously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Network Telemetry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HINT (In-Band Telemetry)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P4-driven congestion feedback via INT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Multi-Agent 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MARL-CC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RL-based cooperative fairness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P4 Frameworks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P5, P4-NEON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Event-driven &amp; SDN-based P4 policies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011680" y="4800600"/>
            <a:ext cx="914400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Research Gap We Target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FIFO / RED / CoDel → too simple, flow-agnostic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P4air / P4CCI → effective but complex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(13+ registers, RTT estimation, recirculation)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KBCS targets the middle ground: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Behavior-aware  +  Implementation-simple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Only 2 registers per flow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No timer dependency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Baseline: P4air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Three-module CCA-aware pipeline (Turkovic &amp; Kuipers, 2021)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Module 1: Fingerprinting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SYN-based RTT estimation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Per-RTT packet count tracking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Queue-depth growth streak analysis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BBR bandwidth probing detection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Flow lifecycle: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Ant → Mice → Delay → Loss-Delay → Pure Loss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(+ Model-Based branch for BBR)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Module 2: Reallocation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8 hardware queues (Q0–Q7)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Q0, Q1 reserved for short flows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Q2–Q7 dynamically allocated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Proportional to active flows per group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Boundaries l₁, l₂, l₃ updated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each RTT interval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Module 3: Apply Actions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When flow exceeds BDP fair share: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Loss-based → DROP packet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Delay-based → RECIRCULATE (delay)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Model-based → HALVE TCP window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CCA-specific penalties = precise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but complex to 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0972800" cy="731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C0392B"/>
                </a:solidFill>
              </a:defRPr>
            </a:pPr>
            <a:r>
              <a:t>⚠  P4air in BMv2: 13+ registers per flow, RTT-dependent, recirculation-heavy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P4air: Software Emulation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Why complexity hurts in BMv2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1. CPU Timing Jitter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P4air needs μs-accurate timestamps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for RTT estimation.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BMv2 on VM CPU introduces random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delays → flow misclassification.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 CUBIC flow may be wrongly labelled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as delay-based (or vice versa).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2. Recirculation Bottleneck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Delay action uses recirculate() to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push packets back through pipeline.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On ASIC hardware: near-instant.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On BMv2 software: burns CPU cycles.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Throughput drops from 10 Mbps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to as low as 5.52 Mbps.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3. Scale Dependency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With only 4 flows across 8 queues,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hash-based separation works by luck.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Each flow lands in its own queue →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artificial fairness.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P4air's real advantage only shows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at 16+ flows (hash collisions).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0972800" cy="731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348F50"/>
                </a:solidFill>
              </a:defRPr>
            </a:pPr>
            <a:r>
              <a:t>Takeaway:  Simpler dataplane logic can be MORE robust under software emulation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6BEE6"/>
                </a:solidFill>
              </a:defRPr>
            </a:pPr>
            <a:r>
              <a:t>Our Proposal</a:t>
            </a:r>
          </a:p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Karma-Based Credit Scheduler</a:t>
            </a:r>
          </a:p>
          <a:p>
            <a:pPr algn="ctr">
              <a:spcBef>
                <a:spcPts val="2000"/>
              </a:spcBef>
              <a:defRPr sz="2000" i="1">
                <a:solidFill>
                  <a:srgbClr val="96DCC8"/>
                </a:solidFill>
              </a:defRPr>
            </a:pPr>
            <a:r>
              <a:t>"Know if a flow is aggressive — not which CCA it runs"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103120"/>
            <a:ext cx="45720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KBCS: Design Philosophy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Three guiding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1. Behavior Over Identity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Don't classify the CCA algorithm.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Just measure: is this flow sending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more than its fair share right now?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Simpler logic, fewer registers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No RTT estimation needed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No recirculation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2. Fast Penalty, Slow Recovery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Aggressive flows lose karma quickly.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Well-behaved flows regain trust slowly.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Penalty:    –5 per aggressive packet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Reward:    +1 per compliant packet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Asymmetry prevents oscillation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Stabilizes queue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474720" cy="3200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3. Queue-Based Enforcement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Map karma to priority queues: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GREEN  (K&gt;80)  → High priority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YELLOW (40&lt;K≤80) → Medium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RED     (K≤40)  → Low / Drop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Protects well-behaved flows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 Forces aggressors to slow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7E7E"/>
                </a:solidFill>
              </a:defRPr>
            </a:pPr>
            <a:r>
              <a:t>P4air asks: "What CCA is this flow running?"     →     KBCS asks: "Is this flow being greedy?"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The Karma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What happens when a packet arrives at the 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4124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Step 1: Flow Identification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Hash the 5-tuple (src/dst IP, ports, protocol) using CRC16</a:t>
            </a:r>
            <a:br/>
            <a:r>
              <a:t>→ flow_id indexes into 65,536-entry register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04288"/>
            <a:ext cx="11247120" cy="8412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Step 2: Decayed Byte Estimation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flow_bytes = (flow_bytes &gt;&gt; 1) + packet_length</a:t>
            </a:r>
            <a:br/>
            <a:r>
              <a:t>→ EWMA approximation using only bit-shift (no floating point, no timers)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47120" cy="84124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Step 3: Karma Update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If flow_bytes &gt; threshold → Karma -= 5  (penalty)</a:t>
            </a:r>
            <a:br/>
            <a:r>
              <a:t>If flow_bytes ≤ threshold → Karma += 1  (reward)</a:t>
            </a:r>
            <a:br/>
            <a:r>
              <a:t>Clamp to range [0, 100]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9664"/>
            <a:ext cx="11247120" cy="8412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Step 4: Color Classification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K &gt; 80 → GREEN  |  40 &lt; K ≤ 80 → YELLOW  |  K ≤ 40 → 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02352"/>
            <a:ext cx="11247120" cy="841248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Step 5: Queue Mapping + AQM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GREEN→ high-priority queue  |  YELLOW→ medium  |  RED→ low / drop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Karma State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Fast penalty, slow recovery — visualized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286000"/>
            <a:ext cx="2560320" cy="1828800"/>
          </a:xfrm>
          <a:prstGeom prst="ellipse">
            <a:avLst/>
          </a:prstGeom>
          <a:solidFill>
            <a:srgbClr val="C8F0D2"/>
          </a:solidFill>
          <a:ln w="25400">
            <a:solidFill>
              <a:srgbClr val="348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348F50"/>
                </a:solidFill>
              </a:defRPr>
            </a:pPr>
            <a:r>
              <a:t>GREEN</a:t>
            </a:r>
          </a:p>
          <a:p>
            <a:pPr algn="ctr">
              <a:defRPr sz="1400">
                <a:solidFill>
                  <a:srgbClr val="4A4A4A"/>
                </a:solidFill>
              </a:defRPr>
            </a:pPr>
            <a:r>
              <a:t>K &gt; 80</a:t>
            </a:r>
          </a:p>
          <a:p>
            <a:pPr algn="ctr">
              <a:defRPr sz="1200">
                <a:solidFill>
                  <a:srgbClr val="4A4A4A"/>
                </a:solidFill>
              </a:defRPr>
            </a:pPr>
            <a:r>
              <a:t>High Priority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286000"/>
            <a:ext cx="2560320" cy="1828800"/>
          </a:xfrm>
          <a:prstGeom prst="ellipse">
            <a:avLst/>
          </a:prstGeom>
          <a:solidFill>
            <a:srgbClr val="FFF0C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67E22"/>
                </a:solidFill>
              </a:defRPr>
            </a:pPr>
            <a:r>
              <a:t>YELLOW</a:t>
            </a:r>
          </a:p>
          <a:p>
            <a:pPr algn="ctr">
              <a:defRPr sz="1400">
                <a:solidFill>
                  <a:srgbClr val="4A4A4A"/>
                </a:solidFill>
              </a:defRPr>
            </a:pPr>
            <a:r>
              <a:t>40 &lt; K ≤ 80</a:t>
            </a:r>
          </a:p>
          <a:p>
            <a:pPr algn="ctr">
              <a:defRPr sz="1200">
                <a:solidFill>
                  <a:srgbClr val="4A4A4A"/>
                </a:solidFill>
              </a:defRPr>
            </a:pPr>
            <a:r>
              <a:t>Medium Priority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2286000"/>
            <a:ext cx="2560320" cy="1828800"/>
          </a:xfrm>
          <a:prstGeom prst="ellipse">
            <a:avLst/>
          </a:prstGeom>
          <a:solidFill>
            <a:srgbClr val="FFD2D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RED</a:t>
            </a:r>
          </a:p>
          <a:p>
            <a:pPr algn="ctr">
              <a:defRPr sz="1400">
                <a:solidFill>
                  <a:srgbClr val="4A4A4A"/>
                </a:solidFill>
              </a:defRPr>
            </a:pPr>
            <a:r>
              <a:t>K ≤ 40</a:t>
            </a:r>
          </a:p>
          <a:p>
            <a:pPr algn="ctr">
              <a:defRPr sz="1200">
                <a:solidFill>
                  <a:srgbClr val="4A4A4A"/>
                </a:solidFill>
              </a:defRPr>
            </a:pPr>
            <a:r>
              <a:t>Low /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──── Aggressive (K -= 5) ────▶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──── Aggressive (K -= 5) ────▶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8F50"/>
                </a:solidFill>
              </a:defRPr>
            </a:pPr>
            <a:r>
              <a:t>◀──── Compliant (K += 1) 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8F50"/>
                </a:solidFill>
              </a:defRPr>
            </a:pPr>
            <a:r>
              <a:t>◀──── Compliant (K += 1) 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A4A4A"/>
                </a:solidFill>
              </a:defRPr>
            </a:pPr>
            <a:r>
              <a:t>↓ New Flow (K = 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33E6E"/>
                </a:solidFill>
              </a:defRPr>
            </a:pPr>
            <a:r>
              <a:t>Recovery math:  RED → YELLOW requires 40+ consecutive compliant packets</a:t>
            </a:r>
          </a:p>
          <a:p>
            <a:pPr algn="ctr">
              <a:defRPr sz="1400">
                <a:solidFill>
                  <a:srgbClr val="4A4A4A"/>
                </a:solidFill>
              </a:defRPr>
            </a:pPr>
            <a:r>
              <a:t>YELLOW → GREEN requires another 20+ compliant packets.   This asymmetry prevents oscillation.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KBCS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End-to-end packet flow through the programmable 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1783080" cy="274320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13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33E6E"/>
                </a:solidFill>
              </a:defRPr>
            </a:pPr>
            <a:r>
              <a:t>Senders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h1: CUBIC</a:t>
            </a:r>
            <a:br/>
            <a:r>
              <a:t>h2: BBR</a:t>
            </a:r>
            <a:br/>
            <a:r>
              <a:t>(100 Mbps each)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432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645920"/>
            <a:ext cx="1783080" cy="2743200"/>
          </a:xfrm>
          <a:prstGeom prst="roundRect">
            <a:avLst/>
          </a:prstGeom>
          <a:solidFill>
            <a:srgbClr val="DCF0E6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E7E7E"/>
                </a:solidFill>
              </a:defRPr>
            </a:pPr>
            <a:r>
              <a:t>Parser &amp;</a:t>
            </a:r>
            <a:br/>
            <a:r>
              <a:t>5-Tuple Hash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Extract headers</a:t>
            </a:r>
            <a:br/>
            <a:r>
              <a:t>CRC16 → flow_id</a:t>
            </a:r>
            <a:br/>
            <a:r>
              <a:t>(65K register array)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7432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45920"/>
            <a:ext cx="1783080" cy="2743200"/>
          </a:xfrm>
          <a:prstGeom prst="roundRect">
            <a:avLst/>
          </a:prstGeom>
          <a:solidFill>
            <a:srgbClr val="DCF0E6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E7E7E"/>
                </a:solidFill>
              </a:defRPr>
            </a:pPr>
            <a:r>
              <a:t>Decayed Byte</a:t>
            </a:r>
            <a:br/>
            <a:r>
              <a:t>Tracking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flow_bytes =</a:t>
            </a:r>
            <a:br/>
            <a:r>
              <a:t>(old &gt;&gt; 1) + pkt_len</a:t>
            </a:r>
            <a:br/>
            <a:r>
              <a:t>(EWMA, no timer)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7432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45920"/>
            <a:ext cx="1783080" cy="2743200"/>
          </a:xfrm>
          <a:prstGeom prst="roundRect">
            <a:avLst/>
          </a:prstGeom>
          <a:solidFill>
            <a:srgbClr val="DCF0E6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E7E7E"/>
                </a:solidFill>
              </a:defRPr>
            </a:pPr>
            <a:r>
              <a:t>Karma</a:t>
            </a:r>
            <a:br/>
            <a:r>
              <a:t>Update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Aggressive? K -= 5</a:t>
            </a:r>
            <a:br/>
            <a:r>
              <a:t>Compliant? K += 1</a:t>
            </a:r>
            <a:br/>
            <a:r>
              <a:t>Clamp [0,100]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45920"/>
            <a:ext cx="1783080" cy="2743200"/>
          </a:xfrm>
          <a:prstGeom prst="roundRect">
            <a:avLst/>
          </a:prstGeom>
          <a:solidFill>
            <a:srgbClr val="DCF0E6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E7E7E"/>
                </a:solidFill>
              </a:defRPr>
            </a:pPr>
            <a:r>
              <a:t>Flow Color</a:t>
            </a:r>
            <a:br/>
            <a:r>
              <a:t>&amp; Queue Map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GREEN → Q_high</a:t>
            </a:r>
            <a:br/>
            <a:r>
              <a:t>YELLOW → Q_med</a:t>
            </a:r>
            <a:br/>
            <a:r>
              <a:t>RED → Q_low/Drop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7432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645920"/>
            <a:ext cx="1783080" cy="2743200"/>
          </a:xfrm>
          <a:prstGeom prst="roundRect">
            <a:avLst/>
          </a:prstGeom>
          <a:solidFill>
            <a:srgbClr val="F0DCD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Bottleneck</a:t>
            </a:r>
            <a:br/>
            <a:r>
              <a:t>+ Receiver</a:t>
            </a:r>
          </a:p>
          <a:p>
            <a:pPr>
              <a:defRPr sz="400"/>
            </a:pPr>
            <a:endParaRPr/>
          </a:p>
          <a:p>
            <a:pPr algn="ctr">
              <a:defRPr sz="1100">
                <a:solidFill>
                  <a:srgbClr val="4A4A4A"/>
                </a:solidFill>
              </a:defRPr>
            </a:pPr>
            <a:r>
              <a:t>10 Mbps link</a:t>
            </a:r>
            <a:br/>
            <a:r>
              <a:t>5ms delay</a:t>
            </a:r>
            <a:br/>
            <a:r>
              <a:t>→ h3 receiver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109728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348F50"/>
                </a:solidFill>
              </a:defRPr>
            </a:pPr>
            <a:r>
              <a:t>Key Advantage Over P4air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Only 2 registers per flow  (vs. 13+ for P4air)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Zero recirculation  (no CPU overhead in BMv2)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No timer dependency  (decay happens on packet arrival)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O(1) per-packet processing  (constant-time lookup and update)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Feedback Loop: How Senders React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KBCS influences senders through standard TCP congestion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3840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CUBIC (Loss-Based — The Aggressor)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KBCS drops packets when Karma ≤ 40 (RED)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CUBIC detects loss via duplicate ACKs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Performs multiplicative decrease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Cuts CWND by ~30%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This IS the intended behavior.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KBCS forces CUBIC to see the congestion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it's causing.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3840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BBR (Model-Based — The Prober)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KBCS places low-karma BBR flows in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lower-priority queues → increased RTT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BBR observes increased RTT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Adjusts pacing rate downward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Queue-based delay is MORE effective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for BBR than packet drops, since BBR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deliberately ignores isolated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474720" cy="3840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Vegas (Delay-Based — The Victim)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Vegas naturally backs off when RTT rises.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KBCS PROTECTS Vegas flows: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They stay GREEN (high karma)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High-priority queue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→ Minimal queuing delay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Result: Vegas gets fair bandwidth share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instead of being starved.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P4air vs KBCS: Side-by-Side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Precision vs. simplicity tradeoff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78992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P4air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KBCS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Decision Basis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Full CCA fingerprinting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Behavior-based karma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State Per Flow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13+ registers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2 registers (bytes, karma)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4 CCA groups +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3 colors (GREEN/YELLOW/RED)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Penalty Type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CCA-specific (drop/delay/halve)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Uniform karma degradation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Implicit (reclassification)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Explicit (+1 per packet)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Recirculation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Not needed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Timer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Critical (RTT estimation)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None (packet-driven decay)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BMv2 Robustness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 variance (σ = ±1.61 Mbps)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Expected lower variance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What's Built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Current repository status at mid-semester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P4air baseline: implemented &amp; multi-run evaluated (30-run + 16-flow)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KBCS design documents &amp; SRS: comprehensive specifications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KBCS P4 prototype: parser, hash, byte decay, karma update, color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Plain forwarding baseline: separate P4 program for direct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Mininet topology: h1(CUBIC) + h2(BBR) → s1 → h3, 10 Mbps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8F50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Experiment automation: run_experiment.py driver with iperf3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31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Priority-queue integration in main experiment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Queue-depth-aware KBCS decision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754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754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Comprehensive KBCS vs baseline result 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166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66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Final parameter tuning &amp;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8F50"/>
                </a:solidFill>
              </a:defRPr>
            </a:pPr>
            <a: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IN PROGRESS / 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18/22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KBCS Prototype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Current values implemented in P4 code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07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Register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65,536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Max concurrent flows (CRC16 hash space)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Initial Karma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All flows start fully trusted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Penalty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Fast punishment for aggressive sending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Reward Step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Gradual trust recovery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 Threshold 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GREEN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Low Threshold (K)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RED boundary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Byte Threshold (θ)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120,000 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Aggressiveness detection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Decay Formula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bytes = (bytes &gt;&gt; 1) + pkt_len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EWMA via bit-shift (50% decay)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10515600" cy="1463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E67E22"/>
                </a:solidFill>
              </a:defRPr>
            </a:pPr>
            <a:r>
              <a:t>Design Gap — Honest Assessment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Current prototype ≠ full enhanced design target.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Queue-depth-aware decision logic → not yet integrated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Selective AQM (drop only critical RED) → current code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drops all RED packets immediately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Priority queue flag → not passed consistently in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 experiment runner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This is acknowledged and planned for Phase 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19/22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Baseline Evaluation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Measured, reproducible, already in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3E6E"/>
                </a:solidFill>
              </a:defRPr>
            </a:pPr>
            <a:r>
              <a:t>30-Run Average (4 flows: CUBIC + BBR + Vegas + Illinois)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7955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Jain's FI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Throughput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(Mbps)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No AQM (FIFO)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9.81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Diff Queues (Hash)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0.9541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10.02 Mbps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0.43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P4air (CCA Aware)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9.68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3E6E"/>
                </a:solidFill>
              </a:defRPr>
            </a:pPr>
            <a:r>
              <a:t>16-Flow Scale Test (4× each CCA)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06240"/>
          <a:ext cx="7955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Jain's FI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Throughput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(Mbps)</a:t>
                      </a:r>
                    </a:p>
                  </a:txBody>
                  <a:tcPr>
                    <a:solidFill>
                      <a:srgbClr val="133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No AQM (FIFO)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10.23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Diff Queues (Hash)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0.9390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10.35 Mbps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0.02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P4air (CCA Aware)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0.9483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11.02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± 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1463040"/>
            <a:ext cx="32004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Key Observations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At 4 flows: FIFO appears fair (artifactual)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Lucky hash effect at small scale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P4air pays CPU cost for limited gain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At 16 flows: P4air truly shines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FIFO fairness drops (0.97 → 0.91)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P4air leads in both FI and throughput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P4air's variance is concerning: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σ = ±1.61 Mbps (recirculation cost)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  → KBCS aims for σ &lt; ±0.5 Mbps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20/22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KBCS Performance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What we need to achieve for a credible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348F50"/>
                </a:solidFill>
              </a:defRPr>
            </a:pPr>
            <a:r>
              <a:t>Target 1: Fairness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Jain's FI ≥ 0.95 at 16-flow scale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Must match or exceed FIFO (0.91)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and approach P4air (0.95)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Target 2: Utilization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Link utilization ≥ 90%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Fairness should not collapse throughput.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PFQ shows FI &gt; 0.95 at U &gt; 95% is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4747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33E6E"/>
                </a:solidFill>
              </a:defRPr>
            </a:pPr>
            <a:r>
              <a:t>Target 3: Stability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Throughput σ &lt; ± 0.5 Mbps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P4air has σ = ± 1.61 Mbps in BMv2.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Simpler logic should be more 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097280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Evaluation Methodology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Dumbbell topology: 10 Mbps bottleneck, 5ms delay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iperf3 traffic generation with controlled CCA mixtures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Jain's Fairness Index:  J = (Σxᵢ)² / (n · Σxᵢ²)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30+ repeated runs for statistical significance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Compare: FIFO  vs  Diff Queues  vs  P4air  vs  KBCS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KBCS: Karma-Based Credit Scheduler  |  Mid-Semester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21/22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33E6E"/>
                </a:solidFill>
              </a:defRPr>
            </a:pPr>
            <a:r>
              <a:t>End-Semester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32004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A4A4A"/>
                </a:solidFill>
              </a:defRPr>
            </a:pPr>
            <a:r>
              <a:t>Four phases from prototype to final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697480" cy="548640"/>
          </a:xfrm>
          <a:prstGeom prst="roundRect">
            <a:avLst/>
          </a:prstGeom>
          <a:solidFill>
            <a:srgbClr val="348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1: Complete Queue-Aware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26974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348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Integrate queue-depth-aware decisions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Align parameters with enhanced design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Selective AQM for RED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697480" cy="548640"/>
          </a:xfrm>
          <a:prstGeom prst="round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2: Finalize Experiment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103120"/>
            <a:ext cx="26974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BMv2 priority queues in all KBCS runs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Archive KBCS vs baseline results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Automated plotting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97480" cy="548640"/>
          </a:xfrm>
          <a:prstGeom prst="roundRect">
            <a:avLst/>
          </a:prstGeom>
          <a:solidFill>
            <a:srgbClr val="13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3: Comparative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6974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3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KBCS vs FIFO vs Hash vs P4air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30+ repeated runs per config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Analysis: fairness, throughput,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5603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7E7E"/>
                </a:solidFill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463040"/>
            <a:ext cx="2697480" cy="548640"/>
          </a:xfrm>
          <a:prstGeom prst="roundRect">
            <a:avLst/>
          </a:prstGeom>
          <a:solidFill>
            <a:srgbClr val="64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4: Final Report &amp;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103120"/>
            <a:ext cx="269748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64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Insert final KBCS result plots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Sensitivity analysis (flow count, thresholds)</a:t>
            </a:r>
          </a:p>
          <a:p>
            <a:pPr>
              <a:spcAft>
                <a:spcPts val="600"/>
              </a:spcAft>
              <a:defRPr sz="1200">
                <a:solidFill>
                  <a:srgbClr val="4A4A4A"/>
                </a:solidFill>
              </a:defRPr>
            </a:pPr>
            <a:r>
              <a:t>• Conclusions based on measured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663440"/>
            <a:ext cx="1143000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E7E7E"/>
                </a:solidFill>
              </a:defRPr>
            </a:pPr>
            <a:r>
              <a:t>Lessons Learned So Far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1. Evaluate at multiple traffic scales — small-scale results can be misleading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2. Complexity in BMv2 causes high variance — simpler can be better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3. A clean baseline is essential before claiming any improvement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4. Current prototype validates feasibility — full evaluation needs all phases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651760"/>
            <a:ext cx="4572000" cy="36576"/>
          </a:xfrm>
          <a:prstGeom prst="rect">
            <a:avLst/>
          </a:prstGeom>
          <a:solidFill>
            <a:srgbClr val="1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400">
                <a:solidFill>
                  <a:srgbClr val="96BEE6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8229600" cy="2560320"/>
          </a:xfrm>
          <a:prstGeom prst="roundRect">
            <a:avLst/>
          </a:prstGeom>
          <a:solidFill>
            <a:srgbClr val="194678"/>
          </a:solidFill>
          <a:ln w="19050">
            <a:solidFill>
              <a:srgbClr val="1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Key Takeaways: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C8DCF0"/>
                </a:solidFill>
              </a:defRPr>
            </a:pPr>
            <a:r>
              <a:t>1.  TCP fairness at the bottleneck is a real, measurable problem</a:t>
            </a:r>
          </a:p>
          <a:p>
            <a:pPr>
              <a:spcAft>
                <a:spcPts val="400"/>
              </a:spcAft>
              <a:defRPr sz="1500" b="0">
                <a:solidFill>
                  <a:srgbClr val="C8DCF0"/>
                </a:solidFill>
              </a:defRPr>
            </a:pPr>
            <a:r>
              <a:t>2.  P4 enables in-switch behavior tracking — we proved this with P4air baseline</a:t>
            </a:r>
          </a:p>
          <a:p>
            <a:pPr>
              <a:spcAft>
                <a:spcPts val="400"/>
              </a:spcAft>
              <a:defRPr sz="1500" b="0">
                <a:solidFill>
                  <a:srgbClr val="C8DCF0"/>
                </a:solidFill>
              </a:defRPr>
            </a:pPr>
            <a:r>
              <a:t>3.  KBCS's "know behavior, not CCA" approach = simpler &amp; potentially more robust</a:t>
            </a:r>
          </a:p>
          <a:p>
            <a:pPr>
              <a:spcAft>
                <a:spcPts val="400"/>
              </a:spcAft>
              <a:defRPr sz="1500" b="0">
                <a:solidFill>
                  <a:srgbClr val="C8DCF0"/>
                </a:solidFill>
              </a:defRPr>
            </a:pPr>
            <a:r>
              <a:t>4.  Prototype working, baseline validated, end-semester evaluation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6AAC8"/>
                </a:solidFill>
              </a:defRPr>
            </a:pPr>
            <a:r>
              <a:t>Gaurav Jaiswal  ·  Ishan Chadha  ·  Sameer Prasad   |   IIIT Allahabad   | 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2999</Words>
  <Application>Microsoft Office PowerPoint</Application>
  <PresentationFormat>Widescreen</PresentationFormat>
  <Paragraphs>588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jaiswal</cp:lastModifiedBy>
  <cp:revision>2</cp:revision>
  <dcterms:created xsi:type="dcterms:W3CDTF">2013-01-27T09:14:16Z</dcterms:created>
  <dcterms:modified xsi:type="dcterms:W3CDTF">2026-03-09T10:34:57Z</dcterms:modified>
  <cp:category/>
</cp:coreProperties>
</file>